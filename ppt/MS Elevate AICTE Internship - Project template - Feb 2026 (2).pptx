
<file path=[Content_Types].xml><?xml version="1.0" encoding="utf-8"?>
<Types xmlns="http://schemas.openxmlformats.org/package/2006/content-types">
  <Override PartName="/ppt/slideMasters/slideMaster2.xml" ContentType="application/vnd.openxmlformats-officedocument.presentationml.slideMaster+xml"/>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authors.xml" ContentType="application/vnd.ms-powerpoint.author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73818" autoAdjust="0"/>
  </p:normalViewPr>
  <p:slideViewPr>
    <p:cSldViewPr snapToGrid="0">
      <p:cViewPr varScale="1">
        <p:scale>
          <a:sx n="91" d="100"/>
          <a:sy n="91" d="100"/>
        </p:scale>
        <p:origin x="-504" y="-114"/>
      </p:cViewPr>
      <p:guideLst>
        <p:guide orient="horz" pos="672"/>
        <p:guide orient="horz" pos="912"/>
        <p:guide pos="312"/>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pPr/>
              <a:t>13-03-2026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pPr/>
              <a:t>‹#›</a:t>
            </a:fld>
            <a:endParaRPr lang="en-IN"/>
          </a:p>
        </p:txBody>
      </p:sp>
    </p:spTree>
    <p:extLst>
      <p:ext uri="{BB962C8B-B14F-4D97-AF65-F5344CB8AC3E}">
        <p14:creationId xmlns:p14="http://schemas.microsoft.com/office/powerpoint/2010/main" xmlns=""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pPr/>
              <a:t>1</a:t>
            </a:fld>
            <a:endParaRPr lang="en-IN"/>
          </a:p>
        </p:txBody>
      </p:sp>
    </p:spTree>
    <p:extLst>
      <p:ext uri="{BB962C8B-B14F-4D97-AF65-F5344CB8AC3E}">
        <p14:creationId xmlns:p14="http://schemas.microsoft.com/office/powerpoint/2010/main" xmlns=""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xmlns="" id="{74C31F17-191B-CFE4-28A8-DF229B949339}"/>
              </a:ext>
            </a:extLst>
          </p:cNvPr>
          <p:cNvSpPr>
            <a:spLocks noGrp="1"/>
          </p:cNvSpPr>
          <p:nvPr>
            <p:ph type="sldNum" sz="quarter" idx="5"/>
          </p:nvPr>
        </p:nvSpPr>
        <p:spPr/>
        <p:txBody>
          <a:bodyPr/>
          <a:lstStyle/>
          <a:p>
            <a:fld id="{F3065E4E-ABE4-4C79-8716-B93932D5FBD3}" type="slidenum">
              <a:rPr lang="en-IN" smtClean="0"/>
              <a:pPr/>
              <a:t>11</a:t>
            </a:fld>
            <a:endParaRPr lang="en-IN"/>
          </a:p>
        </p:txBody>
      </p:sp>
    </p:spTree>
    <p:extLst>
      <p:ext uri="{BB962C8B-B14F-4D97-AF65-F5344CB8AC3E}">
        <p14:creationId xmlns:p14="http://schemas.microsoft.com/office/powerpoint/2010/main" xmlns=""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xmlns="" val="4062684690"/>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xmlns="" val="976909704"/>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A5A217C-58BE-CEDC-FE42-FFECCA1613A4}"/>
              </a:ext>
            </a:extLst>
          </p:cNvPr>
          <p:cNvSpPr>
            <a:spLocks noGrp="1"/>
          </p:cNvSpPr>
          <p:nvPr>
            <p:ph type="dt" sz="half" idx="10"/>
          </p:nvPr>
        </p:nvSpPr>
        <p:spPr/>
        <p:txBody>
          <a:bodyPr/>
          <a:lstStyle/>
          <a:p>
            <a:fld id="{CB3FA99E-0146-4BD9-9E30-4EB71F3A4207}" type="datetimeFigureOut">
              <a:rPr lang="en-IN" smtClean="0"/>
              <a:pPr/>
              <a:t>13-03-2026</a:t>
            </a:fld>
            <a:endParaRPr lang="en-IN"/>
          </a:p>
        </p:txBody>
      </p:sp>
      <p:sp>
        <p:nvSpPr>
          <p:cNvPr id="5" name="Footer Placeholder 4">
            <a:extLst>
              <a:ext uri="{FF2B5EF4-FFF2-40B4-BE49-F238E27FC236}">
                <a16:creationId xmlns:a16="http://schemas.microsoft.com/office/drawing/2014/main" xmlns=""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AB5188B-8994-FE2D-E924-64F2FB541B2D}"/>
              </a:ext>
            </a:extLst>
          </p:cNvPr>
          <p:cNvSpPr>
            <a:spLocks noGrp="1"/>
          </p:cNvSpPr>
          <p:nvPr>
            <p:ph type="sldNum" sz="quarter" idx="12"/>
          </p:nvPr>
        </p:nvSpPr>
        <p:spPr/>
        <p:txBody>
          <a:bodyPr/>
          <a:lstStyle/>
          <a:p>
            <a:fld id="{34381918-31C6-44C6-A382-2FA557A3F6B9}" type="slidenum">
              <a:rPr lang="en-IN" smtClean="0"/>
              <a:pPr/>
              <a:t>‹#›</a:t>
            </a:fld>
            <a:endParaRPr lang="en-IN"/>
          </a:p>
        </p:txBody>
      </p:sp>
    </p:spTree>
    <p:extLst>
      <p:ext uri="{BB962C8B-B14F-4D97-AF65-F5344CB8AC3E}">
        <p14:creationId xmlns:p14="http://schemas.microsoft.com/office/powerpoint/2010/main" xmlns=""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3/13/2026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pPr/>
              <a:t>13/03/2026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xmlns="" val="979747656"/>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xmlns=""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xmlns="" id="{66C649D9-DD8B-5B7D-F409-A3797AEF3D36}"/>
              </a:ext>
            </a:extLst>
          </p:cNvPr>
          <p:cNvPicPr>
            <a:picLocks noChangeAspect="1" noChangeArrowheads="1"/>
          </p:cNvPicPr>
          <p:nvPr userDrawn="1"/>
        </p:nvPicPr>
        <p:blipFill>
          <a:blip r:embed="rId8" cstate="print">
            <a:extLst>
              <a:ext uri="{28A0092B-C50C-407E-A947-70E740481C1C}">
                <a14:useLocalDpi xmlns:a14="http://schemas.microsoft.com/office/drawing/2010/main" xmlns=""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xmlns="">
                <a:solidFill>
                  <a:srgbClr val="FFFFFF"/>
                </a:solidFill>
              </a14:hiddenFill>
            </a:ext>
          </a:extLst>
        </p:spPr>
      </p:pic>
    </p:spTree>
    <p:custDataLst>
      <p:tags r:id="rId7"/>
    </p:custDataLst>
    <p:extLst>
      <p:ext uri="{BB962C8B-B14F-4D97-AF65-F5344CB8AC3E}">
        <p14:creationId xmlns:p14="http://schemas.microsoft.com/office/powerpoint/2010/main" xmlns=""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xmlns=""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xmlns=""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xmlns=""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xmlns=""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xmlns="" id="{4D362339-2CD4-BEA9-8BCD-81A300A3C9CD}"/>
              </a:ext>
            </a:extLst>
          </p:cNvPr>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xmlns="">
                <a:solidFill>
                  <a:srgbClr val="FFFFFF"/>
                </a:solidFill>
              </a14:hiddenFill>
            </a:ext>
          </a:extLst>
        </p:spPr>
      </p:pic>
      <p:sp>
        <p:nvSpPr>
          <p:cNvPr id="2" name="Rectangle 1">
            <a:extLst>
              <a:ext uri="{FF2B5EF4-FFF2-40B4-BE49-F238E27FC236}">
                <a16:creationId xmlns:a16="http://schemas.microsoft.com/office/drawing/2014/main" xmlns="" id="{91DC6ABD-215C-4EA8-A483-CEF5B99AB3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xmlns="" id="{0F837936-4230-3A98-A2A1-6E77E027B36D}"/>
              </a:ext>
            </a:extLst>
          </p:cNvPr>
          <p:cNvSpPr>
            <a:spLocks noGrp="1"/>
          </p:cNvSpPr>
          <p:nvPr/>
        </p:nvSpPr>
        <p:spPr>
          <a:xfrm>
            <a:off x="409904" y="1923393"/>
            <a:ext cx="4696592" cy="2175641"/>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smtClean="0"/>
              <a:t>PROJECT</a:t>
            </a:r>
            <a:endParaRPr lang="en-US" sz="5100" dirty="0" smtClean="0">
              <a:latin typeface="Aptos"/>
            </a:endParaRPr>
          </a:p>
          <a:p>
            <a:pPr algn="l"/>
            <a:r>
              <a:rPr lang="en-US" sz="5100" b="1" dirty="0" smtClean="0"/>
              <a:t/>
            </a:r>
            <a:br>
              <a:rPr lang="en-US" sz="5100" b="1" dirty="0" smtClean="0"/>
            </a:br>
            <a:r>
              <a:rPr lang="en-US" sz="3100" b="1" dirty="0" smtClean="0"/>
              <a:t>Interactive Retail Sales &amp; Performance Analysis in Power BI</a:t>
            </a:r>
          </a:p>
          <a:p>
            <a:pPr algn="l"/>
            <a:endParaRPr lang="en-US" sz="5100" dirty="0">
              <a:latin typeface="Aptos"/>
            </a:endParaRPr>
          </a:p>
          <a:p>
            <a:pPr algn="l"/>
            <a:endParaRPr lang="en-US" sz="5100" b="1" kern="1200" dirty="0"/>
          </a:p>
        </p:txBody>
      </p:sp>
      <p:sp>
        <p:nvSpPr>
          <p:cNvPr id="5" name="Subtitle 2">
            <a:extLst>
              <a:ext uri="{FF2B5EF4-FFF2-40B4-BE49-F238E27FC236}">
                <a16:creationId xmlns:a16="http://schemas.microsoft.com/office/drawing/2014/main" xmlns="" id="{3A663A0C-3931-F8E6-391C-2FF1FDBB09CD}"/>
              </a:ext>
            </a:extLst>
          </p:cNvPr>
          <p:cNvSpPr>
            <a:spLocks noGrp="1"/>
          </p:cNvSpPr>
          <p:nvPr/>
        </p:nvSpPr>
        <p:spPr>
          <a:xfrm>
            <a:off x="594127" y="3739889"/>
            <a:ext cx="4166512" cy="2293049"/>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a:t>
            </a:r>
            <a:r>
              <a:rPr lang="en-US" sz="1600" b="1" cap="all" dirty="0" smtClean="0"/>
              <a:t>Name : </a:t>
            </a:r>
            <a:r>
              <a:rPr lang="en-US" sz="1600" b="1" cap="all" dirty="0" err="1" smtClean="0"/>
              <a:t>Jharendra</a:t>
            </a:r>
            <a:r>
              <a:rPr lang="en-US" sz="1600" b="1" cap="all" dirty="0" smtClean="0"/>
              <a:t> </a:t>
            </a:r>
            <a:r>
              <a:rPr lang="en-US" sz="1600" b="1" cap="all" dirty="0" err="1" smtClean="0"/>
              <a:t>Jogi</a:t>
            </a:r>
            <a:endParaRPr lang="en-US" sz="1600" b="1" cap="all" dirty="0"/>
          </a:p>
          <a:p>
            <a:pPr algn="l">
              <a:spcAft>
                <a:spcPts val="600"/>
              </a:spcAft>
            </a:pPr>
            <a:r>
              <a:rPr lang="en-US" sz="1600" b="1" cap="all" dirty="0"/>
              <a:t>College Name</a:t>
            </a:r>
            <a:r>
              <a:rPr lang="en-US" sz="1600" b="1" cap="all" dirty="0" smtClean="0"/>
              <a:t>: Central Institute of technology </a:t>
            </a:r>
            <a:r>
              <a:rPr lang="en-US" sz="1600" b="1" cap="all" dirty="0" err="1" smtClean="0"/>
              <a:t>kokrajhar</a:t>
            </a:r>
            <a:endParaRPr lang="en-US" sz="1600" b="1" cap="all" dirty="0"/>
          </a:p>
          <a:p>
            <a:pPr algn="l">
              <a:spcAft>
                <a:spcPts val="600"/>
              </a:spcAft>
            </a:pPr>
            <a:r>
              <a:rPr lang="en-US" sz="1600" b="1" cap="all" dirty="0"/>
              <a:t>Department</a:t>
            </a:r>
            <a:r>
              <a:rPr lang="en-US" sz="1600" b="1" cap="all" dirty="0" smtClean="0"/>
              <a:t>: Computer Science and engineering </a:t>
            </a:r>
            <a:endParaRPr lang="en-US" sz="1600" b="1" cap="all" dirty="0"/>
          </a:p>
          <a:p>
            <a:pPr algn="l">
              <a:spcAft>
                <a:spcPts val="600"/>
              </a:spcAft>
            </a:pPr>
            <a:r>
              <a:rPr lang="en-US" sz="1600" b="1" cap="all" dirty="0"/>
              <a:t>Email </a:t>
            </a:r>
            <a:r>
              <a:rPr lang="en-US" sz="1600" b="1" cap="all" dirty="0" smtClean="0"/>
              <a:t>ID:u22cse1074@cit.ac.in</a:t>
            </a:r>
            <a:endParaRPr lang="en-US" sz="1600" b="1" cap="all" dirty="0"/>
          </a:p>
        </p:txBody>
      </p:sp>
      <p:sp>
        <p:nvSpPr>
          <p:cNvPr id="8" name="Rectangle 7">
            <a:extLst>
              <a:ext uri="{FF2B5EF4-FFF2-40B4-BE49-F238E27FC236}">
                <a16:creationId xmlns:a16="http://schemas.microsoft.com/office/drawing/2014/main" xmlns="" id="{04357C93-F0CB-4A1C-8F77-4E906378981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xmlns="" id="{B4288F3F-AD4C-81EA-1336-D2C00EFCC479}"/>
              </a:ext>
            </a:extLst>
          </p:cNvPr>
          <p:cNvPicPr>
            <a:picLocks noChangeAspect="1"/>
          </p:cNvPicPr>
          <p:nvPr/>
        </p:nvPicPr>
        <p:blipFill>
          <a:blip r:embed="rId5"/>
          <a:stretch>
            <a:fillRect/>
          </a:stretch>
        </p:blipFill>
        <p:spPr>
          <a:xfrm>
            <a:off x="6409990" y="963029"/>
            <a:ext cx="4590784" cy="4936489"/>
          </a:xfrm>
          <a:prstGeom prst="rect">
            <a:avLst/>
          </a:prstGeom>
        </p:spPr>
      </p:pic>
      <p:pic>
        <p:nvPicPr>
          <p:cNvPr id="4" name="Picture 2"/>
          <p:cNvPicPr>
            <a:picLocks noChangeAspect="1" noChangeArrowheads="1"/>
          </p:cNvPicPr>
          <p:nvPr/>
        </p:nvPicPr>
        <p:blipFill>
          <a:blip r:embed="rId6"/>
          <a:srcRect/>
          <a:stretch>
            <a:fillRect/>
          </a:stretch>
        </p:blipFill>
        <p:spPr bwMode="auto">
          <a:xfrm>
            <a:off x="6411310" y="966950"/>
            <a:ext cx="4603534" cy="5034455"/>
          </a:xfrm>
          <a:prstGeom prst="rect">
            <a:avLst/>
          </a:prstGeom>
          <a:noFill/>
          <a:ln w="9525">
            <a:noFill/>
            <a:miter lim="800000"/>
            <a:headEnd/>
            <a:tailEnd/>
          </a:ln>
          <a:effectLst/>
        </p:spPr>
      </p:pic>
    </p:spTree>
    <p:custDataLst>
      <p:tags r:id="rId1"/>
    </p:custDataLst>
    <p:extLst>
      <p:ext uri="{BB962C8B-B14F-4D97-AF65-F5344CB8AC3E}">
        <p14:creationId xmlns:p14="http://schemas.microsoft.com/office/powerpoint/2010/main" xmlns=""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xmlns=""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xmlns=""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xmlns=""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r>
              <a:rPr lang="en-US" sz="2000" b="1" dirty="0" smtClean="0"/>
              <a:t>The Challenge at Maven Market</a:t>
            </a:r>
            <a:endParaRPr lang="en-US" sz="2000" dirty="0" smtClean="0"/>
          </a:p>
          <a:p>
            <a:r>
              <a:rPr lang="en-US" sz="1800" dirty="0" smtClean="0"/>
              <a:t>In a competitive retail landscape, Maven Market — a multinational grocery chain with </a:t>
            </a:r>
            <a:r>
              <a:rPr lang="en-US" sz="1800" b="1" dirty="0" smtClean="0"/>
              <a:t>24 stores</a:t>
            </a:r>
            <a:r>
              <a:rPr lang="en-US" sz="1800" dirty="0" smtClean="0"/>
              <a:t> across the USA, Canada, and Mexico — is drowning in fragmented data from sales, transactions, products, customers, stores, and returns.</a:t>
            </a:r>
          </a:p>
          <a:p>
            <a:r>
              <a:rPr lang="en-US" sz="2000" b="1" dirty="0" smtClean="0"/>
              <a:t>Management faces critical blind spots as-:</a:t>
            </a:r>
          </a:p>
          <a:p>
            <a:r>
              <a:rPr lang="en-US" sz="1600" b="1" dirty="0" smtClean="0"/>
              <a:t>Which </a:t>
            </a:r>
            <a:r>
              <a:rPr lang="en-US" sz="1600" b="1" dirty="0" smtClean="0"/>
              <a:t>products, brands, and stores</a:t>
            </a:r>
            <a:r>
              <a:rPr lang="en-US" sz="1600" dirty="0" smtClean="0"/>
              <a:t> truly drive revenue and profit?</a:t>
            </a:r>
          </a:p>
          <a:p>
            <a:r>
              <a:rPr lang="en-US" sz="1600" b="1" dirty="0" smtClean="0"/>
              <a:t>Where are costly returns</a:t>
            </a:r>
            <a:r>
              <a:rPr lang="en-US" sz="1600" dirty="0" smtClean="0"/>
              <a:t> eroding margins the most?</a:t>
            </a:r>
          </a:p>
          <a:p>
            <a:r>
              <a:rPr lang="en-US" sz="1600" b="1" dirty="0" smtClean="0"/>
              <a:t>How do customer behaviors, seasonal trends, and regional differences</a:t>
            </a:r>
            <a:r>
              <a:rPr lang="en-US" sz="1600" dirty="0" smtClean="0"/>
              <a:t> impact performance?</a:t>
            </a:r>
          </a:p>
          <a:p>
            <a:r>
              <a:rPr lang="en-US" sz="1600" b="1" dirty="0" smtClean="0"/>
              <a:t>Are we hitting targets</a:t>
            </a:r>
            <a:r>
              <a:rPr lang="en-US" sz="1600" dirty="0" smtClean="0"/>
              <a:t>, or are hidden opportunities (and risks) going unnoticed</a:t>
            </a:r>
            <a:r>
              <a:rPr lang="en-US" sz="1900" dirty="0" smtClean="0"/>
              <a:t>?</a:t>
            </a:r>
            <a:endParaRPr lang="en-US" sz="1900" dirty="0"/>
          </a:p>
        </p:txBody>
      </p:sp>
    </p:spTree>
    <p:extLst>
      <p:ext uri="{BB962C8B-B14F-4D97-AF65-F5344CB8AC3E}">
        <p14:creationId xmlns:p14="http://schemas.microsoft.com/office/powerpoint/2010/main" xmlns=""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xmlns="" id="{AF67202D-4065-DDD7-98F1-4291C536D1A3}"/>
              </a:ext>
            </a:extLst>
          </p:cNvPr>
          <p:cNvSpPr>
            <a:spLocks noGrp="1"/>
          </p:cNvSpPr>
          <p:nvPr>
            <p:ph idx="1"/>
          </p:nvPr>
        </p:nvSpPr>
        <p:spPr>
          <a:xfrm>
            <a:off x="219075" y="1304305"/>
            <a:ext cx="10515600" cy="5243639"/>
          </a:xfrm>
        </p:spPr>
        <p:txBody>
          <a:bodyPr vert="horz" lIns="91440" tIns="45720" rIns="91440" bIns="45720" rtlCol="0" anchor="t">
            <a:noAutofit/>
          </a:bodyPr>
          <a:lstStyle/>
          <a:p>
            <a:r>
              <a:rPr lang="en-US" sz="1200" b="1" dirty="0" smtClean="0"/>
              <a:t>Data </a:t>
            </a:r>
            <a:r>
              <a:rPr lang="en-US" sz="1200" b="1" dirty="0" smtClean="0"/>
              <a:t>Integration</a:t>
            </a:r>
            <a:endParaRPr lang="en-US" sz="1200" dirty="0" smtClean="0"/>
          </a:p>
          <a:p>
            <a:r>
              <a:rPr lang="en-US" sz="1200" dirty="0" smtClean="0"/>
              <a:t>Combined multiple datasets including </a:t>
            </a:r>
            <a:r>
              <a:rPr lang="en-US" sz="1200" b="1" dirty="0" smtClean="0"/>
              <a:t>transactions, customers, products, stores, calendar, and returns</a:t>
            </a:r>
            <a:r>
              <a:rPr lang="en-US" sz="1200" dirty="0" smtClean="0"/>
              <a:t>.</a:t>
            </a:r>
            <a:endParaRPr lang="en-IN" sz="1200" dirty="0" smtClean="0">
              <a:latin typeface="Calibri"/>
              <a:ea typeface="Calibri"/>
              <a:cs typeface="Calibri"/>
            </a:endParaRPr>
          </a:p>
          <a:p>
            <a:r>
              <a:rPr lang="en-US" sz="1100" b="1" dirty="0" smtClean="0"/>
              <a:t>Data Transformation</a:t>
            </a:r>
            <a:endParaRPr lang="en-US" sz="1100" dirty="0" smtClean="0"/>
          </a:p>
          <a:p>
            <a:r>
              <a:rPr lang="en-US" sz="1200" dirty="0" smtClean="0"/>
              <a:t>Cleaned and transformed data using </a:t>
            </a:r>
            <a:r>
              <a:rPr lang="en-US" sz="1200" b="1" dirty="0" smtClean="0"/>
              <a:t>Power Query Editor</a:t>
            </a:r>
            <a:r>
              <a:rPr lang="en-US" sz="1200" dirty="0" smtClean="0"/>
              <a:t>.</a:t>
            </a:r>
          </a:p>
          <a:p>
            <a:r>
              <a:rPr lang="en-US" sz="1200" b="1" dirty="0" smtClean="0"/>
              <a:t>Data Modeling</a:t>
            </a:r>
            <a:endParaRPr lang="en-US" sz="1200" dirty="0" smtClean="0"/>
          </a:p>
          <a:p>
            <a:r>
              <a:rPr lang="en-US" sz="1200" dirty="0" smtClean="0"/>
              <a:t>Built relationships between tables to create an efficient </a:t>
            </a:r>
            <a:r>
              <a:rPr lang="en-US" sz="1200" b="1" dirty="0" smtClean="0"/>
              <a:t>star schema model</a:t>
            </a:r>
            <a:r>
              <a:rPr lang="en-US" sz="1200" dirty="0" smtClean="0"/>
              <a:t>.</a:t>
            </a:r>
          </a:p>
          <a:p>
            <a:r>
              <a:rPr lang="en-US" sz="1400" b="1" dirty="0" smtClean="0"/>
              <a:t>KPI Calculation</a:t>
            </a:r>
            <a:endParaRPr lang="en-US" sz="1400" dirty="0" smtClean="0"/>
          </a:p>
          <a:p>
            <a:r>
              <a:rPr lang="en-US" sz="1400" dirty="0" smtClean="0"/>
              <a:t>Used </a:t>
            </a:r>
            <a:r>
              <a:rPr lang="en-US" sz="1400" b="1" dirty="0" smtClean="0"/>
              <a:t>DAX measures</a:t>
            </a:r>
            <a:r>
              <a:rPr lang="en-US" sz="1400" dirty="0" smtClean="0"/>
              <a:t> to calculate important metrics such as:</a:t>
            </a:r>
          </a:p>
          <a:p>
            <a:pPr lvl="1"/>
            <a:r>
              <a:rPr lang="en-US" sz="1200" dirty="0" smtClean="0"/>
              <a:t>Total Revenue</a:t>
            </a:r>
          </a:p>
          <a:p>
            <a:pPr lvl="1"/>
            <a:r>
              <a:rPr lang="en-US" sz="1200" dirty="0" smtClean="0"/>
              <a:t>Total Profit</a:t>
            </a:r>
          </a:p>
          <a:p>
            <a:pPr lvl="1"/>
            <a:r>
              <a:rPr lang="en-US" sz="1200" dirty="0" smtClean="0"/>
              <a:t>Total Transactions</a:t>
            </a:r>
          </a:p>
          <a:p>
            <a:pPr lvl="1"/>
            <a:r>
              <a:rPr lang="en-US" sz="1200" dirty="0" smtClean="0"/>
              <a:t>Return Rate</a:t>
            </a:r>
          </a:p>
          <a:p>
            <a:pPr lvl="1"/>
            <a:r>
              <a:rPr lang="en-US" sz="1200" dirty="0" smtClean="0"/>
              <a:t>Profit Margin</a:t>
            </a:r>
          </a:p>
          <a:p>
            <a:pPr marL="305435" indent="-305435">
              <a:spcBef>
                <a:spcPct val="20000"/>
              </a:spcBef>
              <a:spcAft>
                <a:spcPts val="600"/>
              </a:spcAft>
              <a:buFont typeface="Arial"/>
              <a:buChar char="•"/>
            </a:pPr>
            <a:r>
              <a:rPr lang="en-IN" sz="1200" b="1" dirty="0" smtClean="0">
                <a:latin typeface="Calibri"/>
                <a:ea typeface="Calibri"/>
                <a:cs typeface="Calibri"/>
              </a:rPr>
              <a:t>Evaluation:</a:t>
            </a:r>
            <a:endParaRPr lang="en-IN" sz="1200" b="1" dirty="0" smtClean="0">
              <a:latin typeface="Calibri"/>
              <a:ea typeface="Calibri"/>
              <a:cs typeface="Calibri"/>
            </a:endParaRPr>
          </a:p>
          <a:p>
            <a:pPr marL="305435" indent="-305435">
              <a:spcBef>
                <a:spcPct val="20000"/>
              </a:spcBef>
              <a:spcAft>
                <a:spcPts val="600"/>
              </a:spcAft>
              <a:buNone/>
            </a:pPr>
            <a:r>
              <a:rPr lang="en-US" sz="1100" dirty="0" smtClean="0"/>
              <a:t>        Accuracy </a:t>
            </a:r>
            <a:r>
              <a:rPr lang="en-US" sz="1100" dirty="0" smtClean="0"/>
              <a:t>of calculated </a:t>
            </a:r>
            <a:r>
              <a:rPr lang="en-US" sz="1100" dirty="0" smtClean="0"/>
              <a:t>KPIs, Clarity </a:t>
            </a:r>
            <a:r>
              <a:rPr lang="en-US" sz="1100" dirty="0" smtClean="0"/>
              <a:t>of </a:t>
            </a:r>
            <a:r>
              <a:rPr lang="en-US" sz="1100" dirty="0" smtClean="0"/>
              <a:t>visualizations, Ease </a:t>
            </a:r>
            <a:r>
              <a:rPr lang="en-US" sz="1100" dirty="0" smtClean="0"/>
              <a:t>of data </a:t>
            </a:r>
            <a:r>
              <a:rPr lang="en-US" sz="1100" dirty="0" smtClean="0"/>
              <a:t>exploration, Ability </a:t>
            </a:r>
            <a:r>
              <a:rPr lang="en-US" sz="1100" dirty="0" smtClean="0"/>
              <a:t>to identify trends and insights </a:t>
            </a:r>
            <a:r>
              <a:rPr lang="en-US" sz="1100" dirty="0" smtClean="0"/>
              <a:t>quickly.</a:t>
            </a:r>
          </a:p>
          <a:p>
            <a:pPr marL="305435" indent="-305435">
              <a:spcBef>
                <a:spcPct val="20000"/>
              </a:spcBef>
              <a:spcAft>
                <a:spcPts val="600"/>
              </a:spcAft>
              <a:buNone/>
            </a:pPr>
            <a:r>
              <a:rPr lang="en-IN" sz="1400" b="1" dirty="0" smtClean="0">
                <a:latin typeface="Franklin Gothic Book"/>
              </a:rPr>
              <a:t>Result : </a:t>
            </a:r>
          </a:p>
          <a:p>
            <a:pPr marL="305435" indent="-305435">
              <a:spcBef>
                <a:spcPct val="20000"/>
              </a:spcBef>
              <a:spcAft>
                <a:spcPts val="600"/>
              </a:spcAft>
              <a:buNone/>
            </a:pPr>
            <a:r>
              <a:rPr lang="en-IN" sz="1400" b="1" dirty="0" smtClean="0">
                <a:latin typeface="Franklin Gothic Book"/>
              </a:rPr>
              <a:t>	</a:t>
            </a:r>
            <a:r>
              <a:rPr lang="en-US" sz="1100" dirty="0" smtClean="0"/>
              <a:t>The </a:t>
            </a:r>
            <a:r>
              <a:rPr lang="en-US" sz="1100" dirty="0" smtClean="0"/>
              <a:t>developed </a:t>
            </a:r>
            <a:r>
              <a:rPr lang="en-US" sz="1100" b="1" dirty="0" smtClean="0"/>
              <a:t>Maven Market Multi-Page Power BI Dashboard</a:t>
            </a:r>
            <a:r>
              <a:rPr lang="en-US" sz="1100" dirty="0" smtClean="0"/>
              <a:t> provides a comprehensive view of the company's business performance. It enables stakeholders to monitor sales trends, analyze customer behavior, evaluate store and product performance, and identify return patterns. </a:t>
            </a:r>
            <a:endParaRPr lang="en-GB" sz="1100" b="1" dirty="0"/>
          </a:p>
        </p:txBody>
      </p:sp>
    </p:spTree>
    <p:extLst>
      <p:ext uri="{BB962C8B-B14F-4D97-AF65-F5344CB8AC3E}">
        <p14:creationId xmlns:p14="http://schemas.microsoft.com/office/powerpoint/2010/main" xmlns=""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xmlns="" id="{FE07E8EE-7F26-D809-3523-C58876935A4E}"/>
              </a:ext>
            </a:extLst>
          </p:cNvPr>
          <p:cNvSpPr>
            <a:spLocks noGrp="1"/>
          </p:cNvSpPr>
          <p:nvPr>
            <p:ph idx="1"/>
          </p:nvPr>
        </p:nvSpPr>
        <p:spPr>
          <a:xfrm>
            <a:off x="317409" y="1715586"/>
            <a:ext cx="10515600" cy="4251960"/>
          </a:xfrm>
        </p:spPr>
        <p:txBody>
          <a:bodyPr vert="horz" lIns="91440" tIns="45720" rIns="91440" bIns="45720" rtlCol="0">
            <a:normAutofit fontScale="70000" lnSpcReduction="20000"/>
          </a:bodyPr>
          <a:lstStyle/>
          <a:p>
            <a:r>
              <a:rPr lang="en-US" sz="2400" b="1" dirty="0" smtClean="0"/>
              <a:t>Hardware Requirements</a:t>
            </a:r>
          </a:p>
          <a:p>
            <a:r>
              <a:rPr lang="en-US" sz="2100" dirty="0" smtClean="0"/>
              <a:t>Computer/Laptop with minimum </a:t>
            </a:r>
            <a:r>
              <a:rPr lang="en-US" sz="2100" b="1" dirty="0" smtClean="0"/>
              <a:t>4 GB RAM</a:t>
            </a:r>
            <a:endParaRPr lang="en-US" sz="2100" dirty="0" smtClean="0"/>
          </a:p>
          <a:p>
            <a:r>
              <a:rPr lang="en-US" sz="2100" dirty="0" smtClean="0"/>
              <a:t>Intel i3/i5 or equivalent processor</a:t>
            </a:r>
          </a:p>
          <a:p>
            <a:r>
              <a:rPr lang="en-US" sz="2100" dirty="0" smtClean="0"/>
              <a:t>Minimum </a:t>
            </a:r>
            <a:r>
              <a:rPr lang="en-US" sz="2100" b="1" dirty="0" smtClean="0"/>
              <a:t>10 GB free storage space</a:t>
            </a:r>
            <a:endParaRPr lang="en-US" sz="2100" dirty="0" smtClean="0"/>
          </a:p>
          <a:p>
            <a:r>
              <a:rPr lang="en-US" sz="2400" b="1" dirty="0" smtClean="0"/>
              <a:t>Software Requirements</a:t>
            </a:r>
          </a:p>
          <a:p>
            <a:r>
              <a:rPr lang="en-US" sz="2100" dirty="0" smtClean="0"/>
              <a:t>Microsoft Power BI Desktop</a:t>
            </a:r>
          </a:p>
          <a:p>
            <a:r>
              <a:rPr lang="en-US" sz="2100" dirty="0" smtClean="0"/>
              <a:t>Windows Operating System</a:t>
            </a:r>
          </a:p>
          <a:p>
            <a:r>
              <a:rPr lang="en-US" sz="2100" dirty="0" smtClean="0"/>
              <a:t>Microsoft Excel / CSV files for dataset storage</a:t>
            </a:r>
          </a:p>
          <a:p>
            <a:r>
              <a:rPr lang="en-US" sz="2400" b="1" dirty="0" smtClean="0"/>
              <a:t>Libraries </a:t>
            </a:r>
            <a:r>
              <a:rPr lang="en-US" sz="2400" b="1" dirty="0" smtClean="0"/>
              <a:t>/ Tools Required to Build the Model</a:t>
            </a:r>
          </a:p>
          <a:p>
            <a:r>
              <a:rPr lang="en-US" sz="2200" dirty="0" smtClean="0"/>
              <a:t>Power </a:t>
            </a:r>
            <a:r>
              <a:rPr lang="en-US" sz="2200" dirty="0" smtClean="0"/>
              <a:t>BI Desktop </a:t>
            </a:r>
          </a:p>
          <a:p>
            <a:r>
              <a:rPr lang="en-US" sz="2200" dirty="0" smtClean="0"/>
              <a:t>Power Query </a:t>
            </a:r>
            <a:r>
              <a:rPr lang="en-US" sz="2200" dirty="0" smtClean="0"/>
              <a:t>Editor</a:t>
            </a:r>
            <a:endParaRPr lang="en-US" sz="2200" dirty="0" smtClean="0"/>
          </a:p>
          <a:p>
            <a:r>
              <a:rPr lang="en-US" sz="2200" dirty="0" smtClean="0"/>
              <a:t>DAX (Data Analysis Expressions</a:t>
            </a:r>
            <a:r>
              <a:rPr lang="en-US" sz="2200" dirty="0" smtClean="0"/>
              <a:t>)</a:t>
            </a:r>
            <a:endParaRPr lang="en-US" sz="2200" dirty="0" smtClean="0"/>
          </a:p>
          <a:p>
            <a:r>
              <a:rPr lang="en-US" sz="2200" dirty="0" smtClean="0"/>
              <a:t>Data </a:t>
            </a:r>
            <a:r>
              <a:rPr lang="en-US" sz="2200" dirty="0" smtClean="0"/>
              <a:t>Modeling</a:t>
            </a:r>
            <a:endParaRPr lang="en-US" sz="2200" dirty="0" smtClean="0"/>
          </a:p>
          <a:p>
            <a:r>
              <a:rPr lang="en-US" sz="2200" dirty="0" smtClean="0"/>
              <a:t>Excel / CSV Dataset </a:t>
            </a:r>
            <a:r>
              <a:rPr lang="en-US" sz="2200" dirty="0" smtClean="0"/>
              <a:t>Files</a:t>
            </a:r>
            <a:endParaRPr lang="en-US" sz="2200" dirty="0"/>
          </a:p>
        </p:txBody>
      </p:sp>
    </p:spTree>
    <p:extLst>
      <p:ext uri="{BB962C8B-B14F-4D97-AF65-F5344CB8AC3E}">
        <p14:creationId xmlns:p14="http://schemas.microsoft.com/office/powerpoint/2010/main" xmlns=""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xmlns="" id="{B5107410-DE3D-5F62-F9D7-11EAEA92F0BB}"/>
              </a:ext>
            </a:extLst>
          </p:cNvPr>
          <p:cNvSpPr>
            <a:spLocks noGrp="1"/>
          </p:cNvSpPr>
          <p:nvPr>
            <p:ph idx="1"/>
          </p:nvPr>
        </p:nvSpPr>
        <p:spPr>
          <a:xfrm>
            <a:off x="266700" y="1572196"/>
            <a:ext cx="10515600" cy="4251960"/>
          </a:xfrm>
        </p:spPr>
        <p:txBody>
          <a:bodyPr vert="horz" lIns="91440" tIns="45720" rIns="91440" bIns="45720" rtlCol="0">
            <a:normAutofit lnSpcReduction="10000"/>
          </a:bodyPr>
          <a:lstStyle/>
          <a:p>
            <a:r>
              <a:rPr lang="en-US" sz="1400" b="1" dirty="0" smtClean="0"/>
              <a:t>Analytical Approach Selection</a:t>
            </a:r>
            <a:r>
              <a:rPr lang="en-US" sz="1400" dirty="0" smtClean="0"/>
              <a:t/>
            </a:r>
            <a:br>
              <a:rPr lang="en-US" sz="1400" dirty="0" smtClean="0"/>
            </a:br>
            <a:r>
              <a:rPr lang="en-US" sz="1400" dirty="0" smtClean="0"/>
              <a:t>U</a:t>
            </a:r>
            <a:r>
              <a:rPr lang="en-US" sz="1400" dirty="0" smtClean="0"/>
              <a:t>ses </a:t>
            </a:r>
            <a:r>
              <a:rPr lang="en-US" sz="1400" b="1" dirty="0" smtClean="0"/>
              <a:t>Business Intelligence techniques in Power BI</a:t>
            </a:r>
            <a:r>
              <a:rPr lang="en-US" sz="1400" dirty="0" smtClean="0"/>
              <a:t> to analyze retail data through </a:t>
            </a:r>
            <a:r>
              <a:rPr lang="en-US" sz="1400" b="1" dirty="0" smtClean="0"/>
              <a:t>data modeling, DAX-based calculations, and interactive visualizations</a:t>
            </a:r>
            <a:r>
              <a:rPr lang="en-US" sz="1400" dirty="0" smtClean="0"/>
              <a:t> to generate meaningful business insights.</a:t>
            </a:r>
          </a:p>
          <a:p>
            <a:r>
              <a:rPr lang="en-US" sz="1400" b="1" dirty="0" smtClean="0"/>
              <a:t>Data Input</a:t>
            </a:r>
            <a:r>
              <a:rPr lang="en-US" sz="1400" dirty="0" smtClean="0"/>
              <a:t/>
            </a:r>
            <a:br>
              <a:rPr lang="en-US" sz="1400" dirty="0" smtClean="0"/>
            </a:br>
            <a:r>
              <a:rPr lang="en-US" sz="1400" dirty="0" smtClean="0"/>
              <a:t>Transactions / Sales Data, Orders Data, Customers Data, Products Data, Stores Data, Returns Data, Calendar Data</a:t>
            </a:r>
          </a:p>
          <a:p>
            <a:r>
              <a:rPr lang="en-US" sz="1400" b="1" dirty="0" smtClean="0"/>
              <a:t>Processing </a:t>
            </a:r>
            <a:r>
              <a:rPr lang="en-US" sz="1400" b="1" dirty="0" smtClean="0"/>
              <a:t>&amp; KPI </a:t>
            </a:r>
            <a:r>
              <a:rPr lang="en-US" sz="1400" b="1" dirty="0" smtClean="0"/>
              <a:t>Calculation</a:t>
            </a:r>
            <a:endParaRPr lang="en-US" sz="1400" dirty="0" smtClean="0"/>
          </a:p>
          <a:p>
            <a:r>
              <a:rPr lang="en-US" sz="1400" dirty="0" smtClean="0"/>
              <a:t>Data is cleaned and transformed using </a:t>
            </a:r>
            <a:r>
              <a:rPr lang="en-US" sz="1400" b="1" dirty="0" smtClean="0"/>
              <a:t>Power Query Editor</a:t>
            </a:r>
            <a:endParaRPr lang="en-US" sz="1400" dirty="0" smtClean="0"/>
          </a:p>
          <a:p>
            <a:r>
              <a:rPr lang="en-US" sz="1400" dirty="0" smtClean="0"/>
              <a:t>Relationships are created between tables to build a </a:t>
            </a:r>
            <a:r>
              <a:rPr lang="en-US" sz="1400" b="1" dirty="0" smtClean="0"/>
              <a:t>data model</a:t>
            </a:r>
            <a:endParaRPr lang="en-US" sz="1400" dirty="0" smtClean="0"/>
          </a:p>
          <a:p>
            <a:r>
              <a:rPr lang="en-US" sz="1400" b="1" dirty="0" smtClean="0"/>
              <a:t>DAX (Data Analysis Expressions)</a:t>
            </a:r>
            <a:r>
              <a:rPr lang="en-US" sz="1400" dirty="0" smtClean="0"/>
              <a:t> is used to calculate key KPIs</a:t>
            </a:r>
          </a:p>
          <a:p>
            <a:r>
              <a:rPr lang="en-US" sz="1400" b="1" dirty="0" smtClean="0"/>
              <a:t>Visualization Process</a:t>
            </a:r>
            <a:endParaRPr lang="en-US" sz="1400" dirty="0" smtClean="0"/>
          </a:p>
          <a:p>
            <a:r>
              <a:rPr lang="en-US" sz="1400" dirty="0" smtClean="0"/>
              <a:t>Bar Charts</a:t>
            </a:r>
          </a:p>
          <a:p>
            <a:r>
              <a:rPr lang="en-US" sz="1400" dirty="0" smtClean="0"/>
              <a:t>Line Charts</a:t>
            </a:r>
          </a:p>
          <a:p>
            <a:r>
              <a:rPr lang="en-US" sz="1400" dirty="0" smtClean="0"/>
              <a:t>Maps</a:t>
            </a:r>
          </a:p>
          <a:p>
            <a:r>
              <a:rPr lang="en-US" sz="1400" dirty="0" smtClean="0"/>
              <a:t>KPI Cards</a:t>
            </a:r>
          </a:p>
          <a:p>
            <a:r>
              <a:rPr lang="en-US" sz="1400" dirty="0" smtClean="0"/>
              <a:t>Tables and Filters</a:t>
            </a:r>
            <a:endParaRPr lang="en-US" sz="1400" dirty="0"/>
          </a:p>
        </p:txBody>
      </p:sp>
    </p:spTree>
    <p:extLst>
      <p:ext uri="{BB962C8B-B14F-4D97-AF65-F5344CB8AC3E}">
        <p14:creationId xmlns:p14="http://schemas.microsoft.com/office/powerpoint/2010/main" xmlns=""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1026" name="Picture 2"/>
          <p:cNvPicPr>
            <a:picLocks noGrp="1" noChangeAspect="1" noChangeArrowheads="1"/>
          </p:cNvPicPr>
          <p:nvPr>
            <p:ph idx="1"/>
          </p:nvPr>
        </p:nvPicPr>
        <p:blipFill>
          <a:blip r:embed="rId2"/>
          <a:srcRect/>
          <a:stretch>
            <a:fillRect/>
          </a:stretch>
        </p:blipFill>
        <p:spPr bwMode="auto">
          <a:xfrm>
            <a:off x="4225544" y="1324304"/>
            <a:ext cx="4195434" cy="2322785"/>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8408276" y="1313793"/>
            <a:ext cx="3783724" cy="2301766"/>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a:srcRect/>
          <a:stretch>
            <a:fillRect/>
          </a:stretch>
        </p:blipFill>
        <p:spPr bwMode="auto">
          <a:xfrm>
            <a:off x="0" y="3841202"/>
            <a:ext cx="4235669" cy="2438236"/>
          </a:xfrm>
          <a:prstGeom prst="rect">
            <a:avLst/>
          </a:prstGeom>
          <a:noFill/>
          <a:ln w="9525">
            <a:noFill/>
            <a:miter lim="800000"/>
            <a:headEnd/>
            <a:tailEnd/>
          </a:ln>
          <a:effectLst/>
        </p:spPr>
      </p:pic>
      <p:pic>
        <p:nvPicPr>
          <p:cNvPr id="1031" name="Picture 7"/>
          <p:cNvPicPr>
            <a:picLocks noChangeAspect="1" noChangeArrowheads="1"/>
          </p:cNvPicPr>
          <p:nvPr/>
        </p:nvPicPr>
        <p:blipFill>
          <a:blip r:embed="rId5"/>
          <a:srcRect/>
          <a:stretch>
            <a:fillRect/>
          </a:stretch>
        </p:blipFill>
        <p:spPr bwMode="auto">
          <a:xfrm>
            <a:off x="134720" y="1345323"/>
            <a:ext cx="4016865" cy="2333297"/>
          </a:xfrm>
          <a:prstGeom prst="rect">
            <a:avLst/>
          </a:prstGeom>
          <a:noFill/>
          <a:ln w="9525">
            <a:noFill/>
            <a:miter lim="800000"/>
            <a:headEnd/>
            <a:tailEnd/>
          </a:ln>
          <a:effectLst/>
        </p:spPr>
      </p:pic>
      <p:pic>
        <p:nvPicPr>
          <p:cNvPr id="1032" name="Picture 8"/>
          <p:cNvPicPr>
            <a:picLocks noChangeAspect="1" noChangeArrowheads="1"/>
          </p:cNvPicPr>
          <p:nvPr/>
        </p:nvPicPr>
        <p:blipFill>
          <a:blip r:embed="rId6"/>
          <a:srcRect/>
          <a:stretch>
            <a:fillRect/>
          </a:stretch>
        </p:blipFill>
        <p:spPr bwMode="auto">
          <a:xfrm>
            <a:off x="4319751" y="3846786"/>
            <a:ext cx="4014952" cy="2328808"/>
          </a:xfrm>
          <a:prstGeom prst="rect">
            <a:avLst/>
          </a:prstGeom>
          <a:noFill/>
          <a:ln w="9525">
            <a:noFill/>
            <a:miter lim="800000"/>
            <a:headEnd/>
            <a:tailEnd/>
          </a:ln>
          <a:effectLst/>
        </p:spPr>
      </p:pic>
      <p:pic>
        <p:nvPicPr>
          <p:cNvPr id="1033" name="Picture 9"/>
          <p:cNvPicPr>
            <a:picLocks noChangeAspect="1" noChangeArrowheads="1"/>
          </p:cNvPicPr>
          <p:nvPr/>
        </p:nvPicPr>
        <p:blipFill>
          <a:blip r:embed="rId7"/>
          <a:srcRect/>
          <a:stretch>
            <a:fillRect/>
          </a:stretch>
        </p:blipFill>
        <p:spPr bwMode="auto">
          <a:xfrm>
            <a:off x="8422372" y="3818965"/>
            <a:ext cx="3769628" cy="2280621"/>
          </a:xfrm>
          <a:prstGeom prst="rect">
            <a:avLst/>
          </a:prstGeom>
          <a:noFill/>
          <a:ln w="9525">
            <a:noFill/>
            <a:miter lim="800000"/>
            <a:headEnd/>
            <a:tailEnd/>
          </a:ln>
          <a:effectLst/>
        </p:spPr>
      </p:pic>
    </p:spTree>
    <p:extLst>
      <p:ext uri="{BB962C8B-B14F-4D97-AF65-F5344CB8AC3E}">
        <p14:creationId xmlns:p14="http://schemas.microsoft.com/office/powerpoint/2010/main" xmlns=""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xmlns=""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r>
              <a:rPr lang="en-US" sz="1700" dirty="0" smtClean="0"/>
              <a:t>Developed a </a:t>
            </a:r>
            <a:r>
              <a:rPr lang="en-US" sz="1700" b="1" dirty="0" smtClean="0"/>
              <a:t>multi-page Power BI dashboard</a:t>
            </a:r>
            <a:r>
              <a:rPr lang="en-US" sz="1700" dirty="0" smtClean="0"/>
              <a:t> to analyze Maven Market retail datasets and generate actionable business insights.</a:t>
            </a:r>
          </a:p>
          <a:p>
            <a:r>
              <a:rPr lang="en-US" sz="1700" dirty="0" smtClean="0"/>
              <a:t>Integrated multiple data sources (</a:t>
            </a:r>
            <a:r>
              <a:rPr lang="en-US" sz="1700" b="1" dirty="0" smtClean="0"/>
              <a:t>sales, orders, customers, products, stores, and returns</a:t>
            </a:r>
            <a:r>
              <a:rPr lang="en-US" sz="1700" dirty="0" smtClean="0"/>
              <a:t>) using an optimized </a:t>
            </a:r>
            <a:r>
              <a:rPr lang="en-US" sz="1700" b="1" dirty="0" smtClean="0"/>
              <a:t>relational data model</a:t>
            </a:r>
            <a:r>
              <a:rPr lang="en-US" sz="1700" dirty="0" smtClean="0"/>
              <a:t>.</a:t>
            </a:r>
          </a:p>
          <a:p>
            <a:r>
              <a:rPr lang="en-US" sz="1700" dirty="0" smtClean="0"/>
              <a:t>Applied </a:t>
            </a:r>
            <a:r>
              <a:rPr lang="en-US" sz="1700" b="1" dirty="0" smtClean="0"/>
              <a:t>Power Query transformations and DAX-based KPI</a:t>
            </a:r>
            <a:r>
              <a:rPr lang="en-US" sz="1700" dirty="0" smtClean="0"/>
              <a:t>.</a:t>
            </a:r>
          </a:p>
          <a:p>
            <a:r>
              <a:rPr lang="en-US" sz="1700" dirty="0" smtClean="0"/>
              <a:t>Enabled </a:t>
            </a:r>
            <a:r>
              <a:rPr lang="en-US" sz="1700" b="1" dirty="0" smtClean="0"/>
              <a:t>interactive visualizations, filters, and drill-down</a:t>
            </a:r>
            <a:endParaRPr lang="en-US" sz="1700" dirty="0" smtClean="0"/>
          </a:p>
          <a:p>
            <a:r>
              <a:rPr lang="en-US" sz="1700" dirty="0" smtClean="0"/>
              <a:t>Addressed </a:t>
            </a:r>
            <a:r>
              <a:rPr lang="en-US" sz="1700" b="1" dirty="0" smtClean="0"/>
              <a:t>data cleaning, relationship modeling, and KPI calculation.</a:t>
            </a:r>
            <a:endParaRPr lang="en-US" sz="1700" dirty="0"/>
          </a:p>
        </p:txBody>
      </p:sp>
    </p:spTree>
    <p:extLst>
      <p:ext uri="{BB962C8B-B14F-4D97-AF65-F5344CB8AC3E}">
        <p14:creationId xmlns:p14="http://schemas.microsoft.com/office/powerpoint/2010/main" xmlns=""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smtClean="0">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xmlns="" id="{3F2C79AB-5BF9-3911-CAE8-5E44B0DF2236}"/>
              </a:ext>
            </a:extLst>
          </p:cNvPr>
          <p:cNvSpPr>
            <a:spLocks noGrp="1"/>
          </p:cNvSpPr>
          <p:nvPr>
            <p:ph idx="1"/>
          </p:nvPr>
        </p:nvSpPr>
        <p:spPr>
          <a:xfrm>
            <a:off x="304799" y="1671144"/>
            <a:ext cx="10478871" cy="3885249"/>
          </a:xfrm>
        </p:spPr>
        <p:txBody>
          <a:bodyPr vert="horz" lIns="91440" tIns="45720" rIns="91440" bIns="45720" rtlCol="0">
            <a:normAutofit/>
          </a:bodyPr>
          <a:lstStyle/>
          <a:p>
            <a:r>
              <a:rPr lang="en-US" sz="1700" dirty="0" smtClean="0"/>
              <a:t>Integrate </a:t>
            </a:r>
            <a:r>
              <a:rPr lang="en-US" sz="1700" b="1" dirty="0" smtClean="0"/>
              <a:t>real-time data sources</a:t>
            </a:r>
            <a:r>
              <a:rPr lang="en-US" sz="1700" dirty="0" smtClean="0"/>
              <a:t> to enable live business performance monitoring and faster decision-making.</a:t>
            </a:r>
          </a:p>
          <a:p>
            <a:r>
              <a:rPr lang="en-US" sz="1700" dirty="0" smtClean="0"/>
              <a:t>Expand the dashboard by incorporating </a:t>
            </a:r>
            <a:r>
              <a:rPr lang="en-US" sz="1700" b="1" dirty="0" smtClean="0"/>
              <a:t>additional datasets such as inventory, supply chain, and marketing data</a:t>
            </a:r>
            <a:r>
              <a:rPr lang="en-US" sz="1700" dirty="0" smtClean="0"/>
              <a:t> for deeper analysis.</a:t>
            </a:r>
          </a:p>
          <a:p>
            <a:r>
              <a:rPr lang="en-US" sz="1700" dirty="0" smtClean="0"/>
              <a:t>Implement </a:t>
            </a:r>
            <a:r>
              <a:rPr lang="en-US" sz="1700" b="1" dirty="0" smtClean="0"/>
              <a:t>predictive analytics and machine learning models</a:t>
            </a:r>
            <a:r>
              <a:rPr lang="en-US" sz="1700" dirty="0" smtClean="0"/>
              <a:t> to forecast sales trends and customer demand.</a:t>
            </a:r>
          </a:p>
          <a:p>
            <a:r>
              <a:rPr lang="en-US" sz="1700" dirty="0" smtClean="0"/>
              <a:t>Optimize the system using </a:t>
            </a:r>
            <a:r>
              <a:rPr lang="en-US" sz="1700" b="1" dirty="0" smtClean="0"/>
              <a:t>advanced data modeling and performance tuning</a:t>
            </a:r>
            <a:r>
              <a:rPr lang="en-US" sz="1700" dirty="0" smtClean="0"/>
              <a:t> for handling larger datasets.</a:t>
            </a:r>
          </a:p>
        </p:txBody>
      </p:sp>
    </p:spTree>
    <p:extLst>
      <p:ext uri="{BB962C8B-B14F-4D97-AF65-F5344CB8AC3E}">
        <p14:creationId xmlns:p14="http://schemas.microsoft.com/office/powerpoint/2010/main" xmlns=""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xmlns=""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a:rPr>
              <a:t>List and cite relevant sources, research papers, and articles that were instrumental in developing the proposed solution. This could include academic papers on bike demand prediction, machine learning algorithms, and best practices in data </a:t>
            </a:r>
            <a:r>
              <a:rPr lang="en-IN" sz="2200" dirty="0" err="1">
                <a:latin typeface="Franklin Gothic Book"/>
              </a:rPr>
              <a:t>preprocessing</a:t>
            </a:r>
            <a:r>
              <a:rPr lang="en-IN" sz="2200" dirty="0">
                <a:latin typeface="Franklin Gothic Book"/>
              </a:rPr>
              <a:t> and model evaluation.</a:t>
            </a:r>
            <a:endParaRPr lang="en-US" sz="2200" dirty="0">
              <a:latin typeface="Aptos" panose="020B0004020202020204"/>
            </a:endParaRPr>
          </a:p>
          <a:p>
            <a:pPr marL="0" indent="0">
              <a:buNone/>
            </a:pPr>
            <a:r>
              <a:rPr lang="en-IN" sz="2200" dirty="0" err="1">
                <a:latin typeface="Franklin Gothic Book"/>
              </a:rPr>
              <a:t>GitHub</a:t>
            </a:r>
            <a:r>
              <a:rPr lang="en-IN" sz="2200" dirty="0">
                <a:latin typeface="Franklin Gothic Book"/>
              </a:rPr>
              <a:t> Link:</a:t>
            </a:r>
            <a:r>
              <a:rPr lang="en-IN" sz="2200" dirty="0">
                <a:solidFill>
                  <a:srgbClr val="0070C0"/>
                </a:solidFill>
                <a:latin typeface="Franklin Gothic Book"/>
              </a:rPr>
              <a:t> </a:t>
            </a:r>
            <a:r>
              <a:rPr lang="en-IN" sz="2200" u="sng" dirty="0">
                <a:solidFill>
                  <a:srgbClr val="0070C0"/>
                </a:solidFill>
                <a:latin typeface="Franklin Gothic Book"/>
              </a:rPr>
              <a:t>Link</a:t>
            </a: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xmlns=""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xmlns=""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xmlns=""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xmlns=""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TotalTime>
  <Words>508</Words>
  <Application>Microsoft Office PowerPoint</Application>
  <PresentationFormat>Custom</PresentationFormat>
  <Paragraphs>88</Paragraphs>
  <Slides>11</Slides>
  <Notes>2</Notes>
  <HiddenSlides>0</HiddenSlides>
  <MMClips>0</MMClip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1_Office Theme</vt:lpstr>
      <vt:lpstr>Custom Design</vt:lpstr>
      <vt:lpstr>Slide 1</vt:lpstr>
      <vt:lpstr>OUTLINE:</vt:lpstr>
      <vt:lpstr>Problem Statement:</vt:lpstr>
      <vt:lpstr>Proposed Solution:</vt:lpstr>
      <vt:lpstr>System  Approach:</vt:lpstr>
      <vt:lpstr>Algorithm &amp; Deployment:</vt:lpstr>
      <vt:lpstr>Result:</vt:lpstr>
      <vt:lpstr>Conclusion:</vt:lpstr>
      <vt:lpstr>Future scope:</vt:lpstr>
      <vt:lpstr>References:</vt:lpstr>
      <vt:lpstr>Slide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Windows User</cp:lastModifiedBy>
  <cp:revision>120</cp:revision>
  <dcterms:created xsi:type="dcterms:W3CDTF">2024-05-21T11:55:07Z</dcterms:created>
  <dcterms:modified xsi:type="dcterms:W3CDTF">2026-03-13T07:11:21Z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